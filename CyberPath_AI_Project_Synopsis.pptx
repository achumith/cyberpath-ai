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640080"/>
          <a:lstStyle/>
          <a:p>
            <a:pPr algn="ctr">
              <a:defRPr sz="1200" b="1">
                <a:solidFill>
                  <a:srgbClr val="00F0FF"/>
                </a:solidFill>
                <a:latin typeface="Arial"/>
              </a:defRPr>
            </a:pPr>
            <a:r>
              <a:t>PROJECT SYNOPSIS</a:t>
            </a:r>
          </a:p>
          <a:p>
            <a:pPr>
              <a:spcBef>
                <a:spcPts val="800"/>
              </a:spcBef>
              <a:defRPr sz="3600" b="1">
                <a:solidFill>
                  <a:srgbClr val="F1F5F9"/>
                </a:solidFill>
                <a:latin typeface="Arial"/>
              </a:defRPr>
            </a:pPr>
            <a:r>
              <a:t>CyberPath AI</a:t>
            </a:r>
          </a:p>
          <a:p>
            <a:pPr>
              <a:spcBef>
                <a:spcPts val="400"/>
              </a:spcBef>
              <a:defRPr sz="1800">
                <a:solidFill>
                  <a:srgbClr val="00F0FF"/>
                </a:solidFill>
                <a:latin typeface="Arial"/>
              </a:defRPr>
            </a:pPr>
            <a:r>
              <a:t>AI-Powered Dynamic Cyber Attack Graph &amp; Attack Path Prediction System</a:t>
            </a:r>
          </a:p>
          <a:p>
            <a:pPr>
              <a:spcBef>
                <a:spcPts val="1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An educational and defensive cybersecurity platform that models IT infrastructure as a graph, predicts multi-hop attack path risks using Machine Learning, provides Explainable AI (XAI) root-cause attribution, and performs What-If defensive control simulations.</a:t>
            </a:r>
          </a:p>
          <a:p>
            <a:pPr>
              <a:spcBef>
                <a:spcPts val="1800"/>
              </a:spcBef>
              <a:defRPr sz="1100" b="1">
                <a:solidFill>
                  <a:srgbClr val="34D399"/>
                </a:solidFill>
                <a:latin typeface="Arial"/>
              </a:defRPr>
            </a:pPr>
            <a:r>
              <a:t>Domain: Cybersecurity • Graph Theory • Machine Learning • Explainable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CYBERPATH AI • PROJECT SYNOPSIS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1. Executive Overview &amp; 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The Core Concept</a:t>
            </a:r>
          </a:p>
          <a:p>
            <a:pPr>
              <a:spcBef>
                <a:spcPts val="1400"/>
              </a:spcBef>
              <a:defRPr sz="1200">
                <a:solidFill>
                  <a:srgbClr val="F1F5F9"/>
                </a:solidFill>
              </a:defRPr>
            </a:pPr>
            <a:r>
              <a:t>Models an entire organization's IT infrastructure (servers, databases, users, firewalls, credentials) as a directed graph G = (V, E) to uncover hidden lateral pivot chains.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Intelligent Defense</a:t>
            </a:r>
          </a:p>
          <a:p>
            <a:pPr>
              <a:spcBef>
                <a:spcPts val="1400"/>
              </a:spcBef>
              <a:defRPr sz="1200">
                <a:solidFill>
                  <a:srgbClr val="F1F5F9"/>
                </a:solidFill>
              </a:defRPr>
            </a:pPr>
            <a:r>
              <a:t>Replaces static spreadsheets and isolated CVSS ratings with dynamic graph traversal, multi-feature machine learning risk prediction, and MITRE ATT&amp;CK mapping.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Safe &amp; Ethical Simulation</a:t>
            </a:r>
          </a:p>
          <a:p>
            <a:pPr>
              <a:spcBef>
                <a:spcPts val="1400"/>
              </a:spcBef>
              <a:defRPr sz="1200">
                <a:solidFill>
                  <a:srgbClr val="F1F5F9"/>
                </a:solidFill>
              </a:defRPr>
            </a:pPr>
            <a:r>
              <a:t>Operates entirely on synthetic organizational data. Performs 0% intrusive scanning, 0% exploitation, and 100% mathematical graph modeling for defense.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CYBERPATH AI • PROJECT SYNOPSIS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2. Problem Statement &amp; Existing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Gap #1: Vulnerability In Silos</a:t>
            </a:r>
          </a:p>
          <a:p>
            <a:pPr>
              <a:spcBef>
                <a:spcPts val="1400"/>
              </a:spcBef>
              <a:defRPr sz="1200">
                <a:solidFill>
                  <a:srgbClr val="F1F5F9"/>
                </a:solidFill>
              </a:defRPr>
            </a:pPr>
            <a:r>
              <a:t>Existing scanners (Nessus/Qualys) score CVEs in isolation. A CVSS 9.0 on an isolated backup server is flagged higher than a CVSS 7.0 on an internet gateway that bridges into a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Gap #2: Blindness to Lateral Movement</a:t>
            </a:r>
          </a:p>
          <a:p>
            <a:pPr>
              <a:spcBef>
                <a:spcPts val="1400"/>
              </a:spcBef>
              <a:defRPr sz="1200">
                <a:solidFill>
                  <a:srgbClr val="F1F5F9"/>
                </a:solidFill>
              </a:defRPr>
            </a:pPr>
            <a:r>
              <a:t>Modern adversaries rarely attack critical databases directly; they breach an edge server, escalate privileges, and pivot laterally across multiple trust relationships.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Gap #3: Lack of Pre-Enforcement Testing</a:t>
            </a:r>
          </a:p>
          <a:p>
            <a:pPr>
              <a:spcBef>
                <a:spcPts val="1400"/>
              </a:spcBef>
              <a:defRPr sz="1200">
                <a:solidFill>
                  <a:srgbClr val="F1F5F9"/>
                </a:solidFill>
              </a:defRPr>
            </a:pPr>
            <a:r>
              <a:t>SOC teams cannot easily test the mathematical effect of patching a specific vulnerability or adding a firewall rule before deploying it to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CYBERPATH AI • PROJECT SYNOPSIS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3. System Architecture &amp; Technical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Frontend Tier</a:t>
            </a:r>
          </a:p>
          <a:p>
            <a:pPr>
              <a:spcBef>
                <a:spcPts val="1400"/>
              </a:spcBef>
              <a:defRPr sz="1200">
                <a:solidFill>
                  <a:srgbClr val="F1F5F9"/>
                </a:solidFill>
              </a:defRPr>
            </a:pPr>
            <a:r>
              <a:t>• Next.js / React 19 + TypeScript</a:t>
            </a:r>
            <a:br/>
            <a:r>
              <a:t>• Tailwind CSS (Dark SOC Theme)</a:t>
            </a:r>
            <a:br/>
            <a:r>
              <a:t>• React Flow (Interactive Graph Canvas)</a:t>
            </a:r>
            <a:br/>
            <a:r>
              <a:t>• Recharts (Telemetry Distributions)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Backend Services</a:t>
            </a:r>
          </a:p>
          <a:p>
            <a:pPr>
              <a:spcBef>
                <a:spcPts val="1400"/>
              </a:spcBef>
              <a:defRPr sz="1200">
                <a:solidFill>
                  <a:srgbClr val="F1F5F9"/>
                </a:solidFill>
              </a:defRPr>
            </a:pPr>
            <a:r>
              <a:t>• Python 3.14 + FastAPI REST Engine</a:t>
            </a:r>
            <a:br/>
            <a:r>
              <a:t>• NetworkX (Graph Traversal &amp; Pathfinding)</a:t>
            </a:r>
            <a:br/>
            <a:r>
              <a:t>• SQLite + SQLAlchemy ORM Persistence</a:t>
            </a:r>
            <a:br/>
            <a:r>
              <a:t>• fpdf2 (Automated Executive PDF Reports)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ML &amp; AI Engine</a:t>
            </a:r>
          </a:p>
          <a:p>
            <a:pPr>
              <a:spcBef>
                <a:spcPts val="1400"/>
              </a:spcBef>
              <a:defRPr sz="1200">
                <a:solidFill>
                  <a:srgbClr val="F1F5F9"/>
                </a:solidFill>
              </a:defRPr>
            </a:pPr>
            <a:r>
              <a:t>• Scikit-Learn (Random Forest &amp; GBDT)</a:t>
            </a:r>
            <a:br/>
            <a:r>
              <a:t>• 15-Feature Path Feature Extractor</a:t>
            </a:r>
            <a:br/>
            <a:r>
              <a:t>• Explainable AI (XAI) Attribution</a:t>
            </a:r>
            <a:br/>
            <a:r>
              <a:t>• Graph AI Lab (GCN Benchmarking)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CYBERPATH AI • PROJECT SYNOPSIS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4. Core System Modules &amp; Functionalities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200" b="1">
                <a:solidFill>
                  <a:srgbClr val="00F0FF"/>
                </a:solidFill>
              </a:defRPr>
            </a:pPr>
            <a:r>
              <a:t>1. SOC Dashboard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Displays Posture Score (0-100), high-risk vectors, and asset breakdowns.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521208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200" b="1">
                <a:solidFill>
                  <a:srgbClr val="00F0FF"/>
                </a:solidFill>
              </a:defRPr>
            </a:pPr>
            <a:r>
              <a:t>2. Interactive Builder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Create simulated hosts, CVEs, firewalls, and network edges visually.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521208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200" b="1">
                <a:solidFill>
                  <a:srgbClr val="00F0FF"/>
                </a:solidFill>
              </a:defRPr>
            </a:pPr>
            <a:r>
              <a:t>3. Attack Graph Canvas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React Flow canvas with risk-colored nodes, zone columns, and telemetry drawer.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59"/>
            <a:ext cx="521208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200" b="1">
                <a:solidFill>
                  <a:srgbClr val="00F0FF"/>
                </a:solidFill>
              </a:defRPr>
            </a:pPr>
            <a:r>
              <a:t>4. ML Risk Prediction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Trained Random Forest evaluating path risk with R² = 0.97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521208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200" b="1">
                <a:solidFill>
                  <a:srgbClr val="00F0FF"/>
                </a:solidFill>
              </a:defRPr>
            </a:pPr>
            <a:r>
              <a:t>5. Explainable AI (XAI)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Calculates local feature contribution percentages (+32% Max CVSS).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21208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6. Adversary Simulation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Dynamic step-by-step playback mapped to MITRE ATT&amp;CK techniques.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514600"/>
            <a:ext cx="521208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7. Predictive Next-Hop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Forecasts adversary's next pivot probability distribution with softmax.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383280"/>
            <a:ext cx="521208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8. What-If Security Engine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Tests mitigations (patching, MFA) and computes before/after posture deltas.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251959"/>
            <a:ext cx="521208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9. CyberPath AI Analyst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Generates structured SOC investigation questions and defensive playbooks.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5120640"/>
            <a:ext cx="521208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10. Graph AI Lab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Benchmarks 2-Layer Graph Convolutional Networks (GCN) against classical ML.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CYBERPATH AI • PROJECT SYNOPSIS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5. Machine Learning &amp; XAI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500" b="1">
                <a:solidFill>
                  <a:srgbClr val="00F0FF"/>
                </a:solidFill>
              </a:defRPr>
            </a:pPr>
            <a:r>
              <a:t>Feature Extraction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15 contextual features extracted per candidate path:</a:t>
            </a:r>
            <a:br/>
            <a:r>
              <a:t>• Path length &amp; hops</a:t>
            </a:r>
            <a:br/>
            <a:r>
              <a:t>• Internet exposure rating</a:t>
            </a:r>
            <a:br/>
            <a:r>
              <a:t>• Peak CVSS &amp; average CVSS</a:t>
            </a:r>
            <a:br/>
            <a:r>
              <a:t>• High-severity CVE count</a:t>
            </a:r>
            <a:br/>
            <a:r>
              <a:t>• Privilege escalation jumps</a:t>
            </a:r>
            <a:br/>
            <a:r>
              <a:t>• Target asset criticality weight</a:t>
            </a:r>
            <a:br/>
            <a:r>
              <a:t>• Security controls bypassed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Model Performance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Trained on 6,000 synthetic attack paths with 80/20 train/test split:</a:t>
            </a:r>
            <a:br/>
            <a:br/>
            <a:r>
              <a:t>• Random Forest: R² = 0.9726</a:t>
            </a:r>
            <a:br/>
            <a:r>
              <a:t>• Classifier ROC-AUC: 0.9697</a:t>
            </a:r>
            <a:br/>
            <a:r>
              <a:t>• Gradient Boosting ROC-AUC: 0.9749</a:t>
            </a:r>
            <a:br/>
            <a:r>
              <a:t>• Logistic Regression ROC-AUC: 0.9935</a:t>
            </a:r>
            <a:br/>
            <a:r>
              <a:t>• Low RMSE: 3.53 risk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Explainable AI (XAI)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Translates black-box ML predictions into human-readable factor attributions:</a:t>
            </a:r>
            <a:br/>
            <a:br/>
            <a:r>
              <a:t>• +32% Peak Vulnerability CVSS</a:t>
            </a:r>
            <a:br/>
            <a:r>
              <a:t>• +24% External Internet Ingress</a:t>
            </a:r>
            <a:br/>
            <a:r>
              <a:t>• +21% Sensitive Database Reached</a:t>
            </a:r>
            <a:br/>
            <a:r>
              <a:t>• +15% Privilege Escalation Jump</a:t>
            </a:r>
            <a:br/>
            <a:r>
              <a:t>• +8% Hop Traversal Efficiency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CYBERPATH AI • PROJECT SYNOPSIS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6. Dynamic Simulation &amp; What-If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500" b="1">
                <a:solidFill>
                  <a:srgbClr val="00F0FF"/>
                </a:solidFill>
              </a:defRPr>
            </a:pPr>
            <a:r>
              <a:t>Adversary Simulation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• Simulates multi-stage lateral pivoting step-by-step.</a:t>
            </a:r>
            <a:br/>
            <a:r>
              <a:t>• Maps every jump to MITRE ATT&amp;CK techniques (T1190 Ingress, T1068 Privilege Escalation, T1021 SMB/RDP, T1048 Exfiltration).</a:t>
            </a:r>
            <a:br/>
            <a:r>
              <a:t>• Live SOC telemetry terminal log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Predictive Next-Hop Model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• Given current attacker node, computes softmax probability distribution over accessible neighbors.</a:t>
            </a:r>
            <a:br/>
            <a:r>
              <a:t>• Factors adversary utility = Criticality + Exploitability - Friction.</a:t>
            </a:r>
            <a:br/>
            <a:r>
              <a:t>• Flags highest-risk pivot routes before they happen.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What-If Control Validation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• Test hypothetical mitigations in software simulation.</a:t>
            </a:r>
            <a:br/>
            <a:r>
              <a:t>• Example: Patching Log4j on Web Server + blocking DMZ-to-DB reduces high-risk paths from 8 down to 2.</a:t>
            </a:r>
            <a:br/>
            <a:r>
              <a:t>• Posture score improves from 42/100 to 82/100 (+40 pts gain).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CYBERPATH AI • PROJECT SYNOPSIS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7. Future Development Roadmap &amp;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defRPr sz="1300" b="1">
                <a:solidFill>
                  <a:srgbClr val="00F0FF"/>
                </a:solidFill>
              </a:defRPr>
            </a:pPr>
            <a:r>
              <a:t>1. Reinforcement Learning for Autonomous Response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Integrate Deep Q-Learning (DQN) or PPO to train an autonomous defensive agent that discovers optimal security control placements with minimal operational disruption.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69848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2. Live STIX / TAXII Threat Intel Feeds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Ingest real-time cyber threat intelligence feeds (CISA KEV, AlienVault OTX, MITRE ATT&amp;CK) to dynamically weight CVE exploitability against active campaigns in the wild.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3. Cloud &amp; Kubernetes Graph Connectors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Add automated topology discovery plugins for AWS VPCs, Azure Resource Manager, and Kubernetes clusters to model cloud-native attack graphs directly from Terraform/K8s manifests.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69848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defRPr sz="1300" b="1">
                <a:solidFill>
                  <a:srgbClr val="00F0FF"/>
                </a:solidFill>
              </a:defRPr>
            </a:pPr>
            <a:r>
              <a:t>4. Zero-Trust Continuous Verification Engine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Incorporate identity-centric trust scores and dynamic conditional access simulation (e.g. Okta / Microsoft Entra ID token lifecycles) into graph edge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5. Multi-Agent Red Team vs. Blue Team War Gaming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Simulate competitive multi-agent game-theoretic simulations where red agents attempt multi-path data exfiltration while blue agents dynamically deploy micro-honeypots and ACLs.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640080"/>
          <a:lstStyle/>
          <a:p>
            <a:pPr algn="ctr">
              <a:defRPr sz="1200" b="1">
                <a:solidFill>
                  <a:srgbClr val="00F0FF"/>
                </a:solidFill>
              </a:defRPr>
            </a:pPr>
            <a:r>
              <a:t>CONCLUSION &amp; SUMMARY</a:t>
            </a:r>
          </a:p>
          <a:p>
            <a:pPr>
              <a:spcBef>
                <a:spcPts val="600"/>
              </a:spcBef>
              <a:defRPr sz="3200" b="1">
                <a:solidFill>
                  <a:srgbClr val="F1F5F9"/>
                </a:solidFill>
              </a:defRPr>
            </a:pPr>
            <a:r>
              <a:t>CyberPath AI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t>• Successfully bridges graph analytics, machine learning, and defensive cybersecurity.</a:t>
            </a:r>
            <a:br/>
            <a:r>
              <a:t>• Enables proactive threat path discovery, explainable risk scoring, and What-If mitigation pre-validation.</a:t>
            </a:r>
            <a:br/>
            <a:r>
              <a:t>• Completely functional full-stack architecture (FastAPI + React + Scikit-Learn).</a:t>
            </a:r>
            <a:br/>
            <a:r>
              <a:t>• Ready for academic presentation, research extension, and portfolio demonstration.</a:t>
            </a:r>
          </a:p>
          <a:p>
            <a:pPr>
              <a:spcBef>
                <a:spcPts val="2000"/>
              </a:spcBef>
              <a:defRPr sz="1600" b="1">
                <a:solidFill>
                  <a:srgbClr val="34D399"/>
                </a:solidFill>
              </a:defRPr>
            </a:pPr>
            <a:r>
              <a:t>Thank You!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
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32720" cy="5029200"/>
          </a:xfrm>
          <a:prstGeom prst="roundRect">
            <a:avLst/>
          </a:prstGeom>
          <a:solidFill>
            <a:srgbClr val="10182D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548640" rIns="731520"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FINAL YEAR PROJECT PROPOSAL</a:t>
            </a:r>
          </a:p>
          <a:p>
            <a:pPr>
              <a:spcBef>
                <a:spcPts val="800"/>
              </a:spcBef>
              <a:defRPr sz="3600" b="1">
                <a:solidFill>
                  <a:srgbClr val="F5F7FA"/>
                </a:solidFill>
              </a:defRPr>
            </a:pPr>
            <a:r>
              <a:t>CyberPath AI</a:t>
            </a:r>
          </a:p>
          <a:p>
            <a:pPr>
              <a:spcBef>
                <a:spcPts val="400"/>
              </a:spcBef>
              <a:defRPr sz="1800">
                <a:solidFill>
                  <a:srgbClr val="00E5FF"/>
                </a:solidFill>
              </a:defRPr>
            </a:pPr>
            <a:r>
              <a:t>AI-Powered Dynamic Cyber Attack Graph &amp; Path Prediction System</a:t>
            </a:r>
          </a:p>
          <a:p>
            <a:pPr>
              <a:spcBef>
                <a:spcPts val="1400"/>
              </a:spcBef>
              <a:defRPr sz="1200">
                <a:solidFill>
                  <a:srgbClr val="96A5B9"/>
                </a:solidFill>
              </a:defRPr>
            </a:pPr>
            <a:r>
              <a:t>A proposed defensive platform that maps IT networks into intelligent attack graphs, uses Machine Learning to predict high-risk breach paths, explains why paths are dangerous, and enables defenders to test security controls in simulation before deploying them.</a:t>
            </a:r>
          </a:p>
          <a:p>
            <a:pPr>
              <a:spcBef>
                <a:spcPts val="1600"/>
              </a:spcBef>
              <a:defRPr sz="1100" b="1">
                <a:solidFill>
                  <a:srgbClr val="2ED573"/>
                </a:solidFill>
              </a:defRPr>
            </a:pPr>
            <a:r>
              <a:t>Focus Areas: Graph Theory • Machine Learning Risk Prediction • Explainable AI • Security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 panose="020B0604020202020204"/>
              </a:defRPr>
            </a:pPr>
            <a:r>
              <a:t>PROJECT PROPOSAL &amp; IDEA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  <a:latin typeface="Arial" panose="020B0604020202020204"/>
              </a:defRPr>
            </a:pPr>
            <a:r>
              <a:t>1. The Real-World Problem: Why Traditional Security Fails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20040" rIns="274320" rtlCol="0" anchor="ctr"/>
          <a:lstStyle/>
          <a:p>
            <a:pPr algn="ctr">
              <a:defRPr sz="1500" b="1">
                <a:solidFill>
                  <a:srgbClr val="FF4757"/>
                </a:solidFill>
              </a:defRPr>
            </a:pPr>
            <a:r>
              <a:t>Vulnerabilities Scored in Isolation</a:t>
            </a:r>
          </a:p>
          <a:p>
            <a:pPr>
              <a:spcBef>
                <a:spcPts val="1200"/>
              </a:spcBef>
              <a:defRPr sz="1100">
                <a:solidFill>
                  <a:srgbClr val="F5F7FA"/>
                </a:solidFill>
              </a:defRPr>
            </a:pPr>
            <a:r>
              <a:t>Traditional tools give isolated CVSS scores (e.g., 'CVE-2023-123 is 8.5'). But they ignore context:</a:t>
            </a:r>
            <a:br/>
            <a:br/>
            <a:r>
              <a:t>• An 8.5 flaw on an isolated offline server is low priority.</a:t>
            </a:r>
            <a:br/>
            <a:r>
              <a:t>• A 6.0 flaw on an internet gateway connecting directly to the customer database is a critical disaster!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448056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20040" rIns="274320" rtlCol="0" anchor="ctr"/>
          <a:lstStyle/>
          <a:p>
            <a:pPr algn="ctr">
              <a:defRPr sz="1500" b="1">
                <a:solidFill>
                  <a:srgbClr val="FFAB00"/>
                </a:solidFill>
              </a:defRPr>
            </a:pPr>
            <a:r>
              <a:t>Attackers Think in Chains &amp; Graphs</a:t>
            </a:r>
          </a:p>
          <a:p>
            <a:pPr>
              <a:spcBef>
                <a:spcPts val="1200"/>
              </a:spcBef>
              <a:defRPr sz="1100">
                <a:solidFill>
                  <a:srgbClr val="F5F7FA"/>
                </a:solidFill>
              </a:defRPr>
            </a:pPr>
            <a:r>
              <a:t>Defenders protect individual lists of assets; attackers exploit connected chains:</a:t>
            </a:r>
            <a:br/>
            <a:br/>
            <a:r>
              <a:t>Internet → Web Server (Breach)</a:t>
            </a:r>
            <a:br/>
            <a:r>
              <a:t>→ App Server (Lateral Hop)</a:t>
            </a:r>
            <a:br/>
            <a:r>
              <a:t>→ Admin PC (Credential Steal)</a:t>
            </a:r>
            <a:br/>
            <a:r>
              <a:t>→ Core Database (Exfiltration)</a:t>
            </a:r>
            <a:br/>
            <a:br/>
            <a:r>
              <a:t>Single-point security cannot detect this multi-hop progression.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448056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20040" rIns="274320" rtlCol="0" anchor="ctr"/>
          <a:lstStyle/>
          <a:p>
            <a:pPr algn="ctr">
              <a:defRPr sz="1500" b="1">
                <a:solidFill>
                  <a:srgbClr val="00E5FF"/>
                </a:solidFill>
              </a:defRPr>
            </a:pPr>
            <a:r>
              <a:t>Defenders Cannot Test 'What-If'</a:t>
            </a:r>
          </a:p>
          <a:p>
            <a:pPr>
              <a:spcBef>
                <a:spcPts val="1200"/>
              </a:spcBef>
              <a:defRPr sz="1100">
                <a:solidFill>
                  <a:srgbClr val="F5F7FA"/>
                </a:solidFill>
              </a:defRPr>
            </a:pPr>
            <a:r>
              <a:t>If a security team wants to patch 3 servers or block a port, they cannot easily test the outcome in advance:</a:t>
            </a:r>
            <a:br/>
            <a:br/>
            <a:r>
              <a:t>• Will this eliminate the attack path?</a:t>
            </a:r>
            <a:br/>
            <a:r>
              <a:t>• How much will our overall posture improve?</a:t>
            </a:r>
            <a:br/>
            <a:br/>
            <a:r>
              <a:t>They have to guess rather than simulate mathematically.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 panose="020B0604020202020204"/>
              </a:defRPr>
            </a:pPr>
            <a:r>
              <a:t>PROJECT PROPOSAL &amp; IDEA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  <a:latin typeface="Arial" panose="020B0604020202020204"/>
              </a:defRPr>
            </a:pPr>
            <a:r>
              <a:t>2. Proposed Solution: How CyberPath AI Solves This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20040" rIns="274320" rtlCol="0" anchor="ctr"/>
          <a:lstStyle/>
          <a:p>
            <a:pPr algn="ctr">
              <a:defRPr sz="1500" b="1">
                <a:solidFill>
                  <a:srgbClr val="00E5FF"/>
                </a:solidFill>
              </a:defRPr>
            </a:pPr>
            <a:r>
              <a:t>1. Graph-Based Network Modeling</a:t>
            </a:r>
          </a:p>
          <a:p>
            <a:pPr>
              <a:spcBef>
                <a:spcPts val="1200"/>
              </a:spcBef>
              <a:defRPr sz="1100">
                <a:solidFill>
                  <a:srgbClr val="F5F7FA"/>
                </a:solidFill>
              </a:defRPr>
            </a:pPr>
            <a:r>
              <a:t>Model infrastructure as a directed graph:</a:t>
            </a:r>
            <a:br/>
            <a:br/>
            <a:r>
              <a:t>• Nodes = Computers, Web Servers, Cloud Vaults, Domain Controllers.</a:t>
            </a:r>
            <a:br/>
            <a:r>
              <a:t>• Edges = Network connectivity, permissions, and protocols.</a:t>
            </a:r>
            <a:br/>
            <a:br/>
            <a:r>
              <a:t>Turns complex IT environments into a clear, searchable map.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448056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20040" rIns="274320" rtlCol="0" anchor="ctr"/>
          <a:lstStyle/>
          <a:p>
            <a:pPr algn="ctr">
              <a:defRPr sz="1500" b="1">
                <a:solidFill>
                  <a:srgbClr val="2ED573"/>
                </a:solidFill>
              </a:defRPr>
            </a:pPr>
            <a:r>
              <a:t>2. Machine Learning Risk Prediction</a:t>
            </a:r>
          </a:p>
          <a:p>
            <a:pPr>
              <a:spcBef>
                <a:spcPts val="1200"/>
              </a:spcBef>
              <a:defRPr sz="1100">
                <a:solidFill>
                  <a:srgbClr val="F5F7FA"/>
                </a:solidFill>
              </a:defRPr>
            </a:pPr>
            <a:r>
              <a:t>Automatically discover all possible paths an attacker could take.</a:t>
            </a:r>
            <a:br/>
            <a:br/>
            <a:r>
              <a:t>Then, use Machine Learning (Random Forest &amp; Gradient Boosting) to analyze path features and predict which paths are highest risk (0–100 score).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448056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20040" rIns="274320" rtlCol="0" anchor="ctr"/>
          <a:lstStyle/>
          <a:p>
            <a:pPr algn="ctr">
              <a:defRPr sz="1500" b="1">
                <a:solidFill>
                  <a:srgbClr val="F5F7FA"/>
                </a:solidFill>
              </a:defRPr>
            </a:pPr>
            <a:r>
              <a:t>3. Explainability &amp; What-If Simulation</a:t>
            </a:r>
          </a:p>
          <a:p>
            <a:pPr>
              <a:spcBef>
                <a:spcPts val="1200"/>
              </a:spcBef>
              <a:defRPr sz="1100">
                <a:solidFill>
                  <a:srgbClr val="F5F7FA"/>
                </a:solidFill>
              </a:defRPr>
            </a:pPr>
            <a:r>
              <a:t>• Explainable AI (XAI) tells analysts WHY a path is risky (+32% due to peak CVE, +24% internet exposure).</a:t>
            </a:r>
            <a:br/>
            <a:r>
              <a:t>• What-If Engine lets defenders toggle patches or firewall rules and see attack paths vanish in real-time.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 panose="020B0604020202020204"/>
              </a:defRPr>
            </a:pPr>
            <a:r>
              <a:t>PROJECT PROPOSAL &amp; IDEA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  <a:latin typeface="Arial" panose="020B0604020202020204"/>
              </a:defRPr>
            </a:pPr>
            <a:r>
              <a:t>3. Proposed System Modules &amp; Functionalities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77724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1200" b="1">
                <a:solidFill>
                  <a:srgbClr val="00E5FF"/>
                </a:solidFill>
              </a:defRPr>
            </a:pPr>
            <a:r>
              <a:t>Module 1: SOC Executive Dashboard</a:t>
            </a:r>
          </a:p>
          <a:p>
            <a:pPr>
              <a:defRPr sz="1000">
                <a:solidFill>
                  <a:srgbClr val="F5F7FA"/>
                </a:solidFill>
              </a:defRPr>
            </a:pPr>
            <a:r>
              <a:t>Displays enterprise security posture (0–100), critical asset status, and risk distribution charts.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42032"/>
            <a:ext cx="5212080" cy="77724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1200" b="1">
                <a:solidFill>
                  <a:srgbClr val="00E5FF"/>
                </a:solidFill>
              </a:defRPr>
            </a:pPr>
            <a:r>
              <a:t>Module 2: Network &amp; Asset Builder</a:t>
            </a:r>
          </a:p>
          <a:p>
            <a:pPr>
              <a:defRPr sz="1000">
                <a:solidFill>
                  <a:srgbClr val="F5F7FA"/>
                </a:solidFill>
              </a:defRPr>
            </a:pPr>
            <a:r>
              <a:t>Allows creating simulated corporate assets (servers, databases, firewalls) and attaching synthetic CVEs.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38144"/>
            <a:ext cx="5212080" cy="77724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1200" b="1">
                <a:solidFill>
                  <a:srgbClr val="00E5FF"/>
                </a:solidFill>
              </a:defRPr>
            </a:pPr>
            <a:r>
              <a:t>Module 3: Interactive Attack Graph</a:t>
            </a:r>
          </a:p>
          <a:p>
            <a:pPr>
              <a:defRPr sz="1000">
                <a:solidFill>
                  <a:srgbClr val="F5F7FA"/>
                </a:solidFill>
              </a:defRPr>
            </a:pPr>
            <a:r>
              <a:t>Visual canvas showing nodes colored by risk (Green, Yellow, Orange, Red) with asset telemetry.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34256"/>
            <a:ext cx="5212080" cy="77724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1200" b="1">
                <a:solidFill>
                  <a:srgbClr val="00E5FF"/>
                </a:solidFill>
              </a:defRPr>
            </a:pPr>
            <a:r>
              <a:t>Module 4: Attack Path Discovery Engine</a:t>
            </a:r>
          </a:p>
          <a:p>
            <a:pPr>
              <a:defRPr sz="1000">
                <a:solidFill>
                  <a:srgbClr val="F5F7FA"/>
                </a:solidFill>
              </a:defRPr>
            </a:pPr>
            <a:r>
              <a:t>Graph traversal algorithms (bounded DFS) discovering candidate multi-hop breach vectors.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30368"/>
            <a:ext cx="5212080" cy="77724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1200" b="1">
                <a:solidFill>
                  <a:srgbClr val="00E5FF"/>
                </a:solidFill>
              </a:defRPr>
            </a:pPr>
            <a:r>
              <a:t>Module 5: ML Risk Prediction &amp; XAI</a:t>
            </a:r>
          </a:p>
          <a:p>
            <a:pPr>
              <a:defRPr sz="1000">
                <a:solidFill>
                  <a:srgbClr val="F5F7FA"/>
                </a:solidFill>
              </a:defRPr>
            </a:pPr>
            <a:r>
              <a:t>Predicts path risk scores and outputs percentage feature attributions (+32% CVSS, +24% Exposure).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5212080" cy="77724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1200" b="1">
                <a:solidFill>
                  <a:srgbClr val="2ED573"/>
                </a:solidFill>
              </a:defRPr>
            </a:pPr>
            <a:r>
              <a:t>Module 6: Dynamic Attack Simulation</a:t>
            </a:r>
          </a:p>
          <a:p>
            <a:pPr>
              <a:defRPr sz="1000">
                <a:solidFill>
                  <a:srgbClr val="F5F7FA"/>
                </a:solidFill>
              </a:defRPr>
            </a:pPr>
            <a:r>
              <a:t>Simulates step-by-step adversary movements mapped to MITRE ATT&amp;CK techniques (T1190, T1068).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542032"/>
            <a:ext cx="5212080" cy="77724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1200" b="1">
                <a:solidFill>
                  <a:srgbClr val="2ED573"/>
                </a:solidFill>
              </a:defRPr>
            </a:pPr>
            <a:r>
              <a:t>Module 7: Predictive Next-Step Model</a:t>
            </a:r>
          </a:p>
          <a:p>
            <a:pPr>
              <a:defRPr sz="1000">
                <a:solidFill>
                  <a:srgbClr val="F5F7FA"/>
                </a:solidFill>
              </a:defRPr>
            </a:pPr>
            <a:r>
              <a:t>Given current attacker position, forecasts the most probable next pivot with softmax probability.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438144"/>
            <a:ext cx="5212080" cy="77724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1200" b="1">
                <a:solidFill>
                  <a:srgbClr val="2ED573"/>
                </a:solidFill>
              </a:defRPr>
            </a:pPr>
            <a:r>
              <a:t>Module 8: What-If Security Engine</a:t>
            </a:r>
          </a:p>
          <a:p>
            <a:pPr>
              <a:defRPr sz="1000">
                <a:solidFill>
                  <a:srgbClr val="F5F7FA"/>
                </a:solidFill>
              </a:defRPr>
            </a:pPr>
            <a:r>
              <a:t>Tests hypothetical mitigations (patching, MFA, isolation) and displays before/after posture deltas.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334256"/>
            <a:ext cx="5212080" cy="77724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1200" b="1">
                <a:solidFill>
                  <a:srgbClr val="2ED573"/>
                </a:solidFill>
              </a:defRPr>
            </a:pPr>
            <a:r>
              <a:t>Module 9: AI Security Analyst Assistant</a:t>
            </a:r>
          </a:p>
          <a:p>
            <a:pPr>
              <a:defRPr sz="1000">
                <a:solidFill>
                  <a:srgbClr val="F5F7FA"/>
                </a:solidFill>
              </a:defRPr>
            </a:pPr>
            <a:r>
              <a:t>Provides structured explanations, SOC investigation questions, and defensive playbooks.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5230368"/>
            <a:ext cx="5212080" cy="77724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1200" b="1">
                <a:solidFill>
                  <a:srgbClr val="2ED573"/>
                </a:solidFill>
              </a:defRPr>
            </a:pPr>
            <a:r>
              <a:t>Module 10: Executive Audit Reports</a:t>
            </a:r>
          </a:p>
          <a:p>
            <a:pPr>
              <a:defRPr sz="1000">
                <a:solidFill>
                  <a:srgbClr val="F5F7FA"/>
                </a:solidFill>
              </a:defRPr>
            </a:pPr>
            <a:r>
              <a:t>Generates comprehensive PDF and JSON reports summarizing environment risk posture.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 panose="020B0604020202020204"/>
              </a:defRPr>
            </a:pPr>
            <a:r>
              <a:t>PROJECT PROPOSAL &amp; IDEA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  <a:latin typeface="Arial" panose="020B0604020202020204"/>
              </a:defRPr>
            </a:pPr>
            <a:r>
              <a:t>4. Proposed Technical Architecture &amp;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1. Graph Construction</a:t>
            </a:r>
          </a:p>
          <a:p>
            <a:pPr>
              <a:spcBef>
                <a:spcPts val="1200"/>
              </a:spcBef>
              <a:defRPr sz="1100">
                <a:solidFill>
                  <a:srgbClr val="F5F7FA"/>
                </a:solidFill>
              </a:defRPr>
            </a:pPr>
            <a:r>
              <a:t>NetworkX DiGraph modeling assets as nodes and network conduits as weighted edges with access conditions.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14600" cy="438912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defRPr sz="1400" b="1">
                <a:solidFill>
                  <a:srgbClr val="2ED573"/>
                </a:solidFill>
              </a:defRPr>
            </a:pPr>
            <a:r>
              <a:t>2. Feature Extraction</a:t>
            </a:r>
          </a:p>
          <a:p>
            <a:pPr>
              <a:spcBef>
                <a:spcPts val="1200"/>
              </a:spcBef>
              <a:defRPr sz="1100">
                <a:solidFill>
                  <a:srgbClr val="F5F7FA"/>
                </a:solidFill>
              </a:defRPr>
            </a:pPr>
            <a:r>
              <a:t>Extracts 15 key features per path: path length, hops, max CVSS, avg CVSS, privilege jump, external exposure.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14600" cy="438912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3. Machine Learning</a:t>
            </a:r>
          </a:p>
          <a:p>
            <a:pPr>
              <a:spcBef>
                <a:spcPts val="1200"/>
              </a:spcBef>
              <a:defRPr sz="1100">
                <a:solidFill>
                  <a:srgbClr val="F5F7FA"/>
                </a:solidFill>
              </a:defRPr>
            </a:pPr>
            <a:r>
              <a:t>Trains Random Forest &amp; Gradient Boosting models on synthetic paths to evaluate risk with continuous precision.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14600" cy="438912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4. Modern Full-Stack UI</a:t>
            </a:r>
          </a:p>
          <a:p>
            <a:pPr>
              <a:spcBef>
                <a:spcPts val="1200"/>
              </a:spcBef>
              <a:defRPr sz="1100">
                <a:solidFill>
                  <a:srgbClr val="F5F7FA"/>
                </a:solidFill>
              </a:defRPr>
            </a:pPr>
            <a:r>
              <a:t>FastAPI backend + React 19 / TypeScript frontend with React Flow interactive canvas and Tailwind styling.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 panose="020B0604020202020204"/>
              </a:defRPr>
            </a:pPr>
            <a:r>
              <a:t>PROJECT PROPOSAL &amp; IDEA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  <a:latin typeface="Arial" panose="020B0604020202020204"/>
              </a:defRPr>
            </a:pPr>
            <a:r>
              <a:t>5. What Makes This Unique (Not Just Another CRUD App)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20040" rIns="274320" rtlCol="0" anchor="ctr"/>
          <a:lstStyle/>
          <a:p>
            <a:pPr algn="ctr">
              <a:defRPr sz="1500" b="1">
                <a:solidFill>
                  <a:srgbClr val="00E5FF"/>
                </a:solidFill>
              </a:defRPr>
            </a:pPr>
            <a:r>
              <a:t>Beyond CRUD Operations</a:t>
            </a:r>
          </a:p>
          <a:p>
            <a:pPr>
              <a:spcBef>
                <a:spcPts val="1200"/>
              </a:spcBef>
              <a:defRPr sz="1100">
                <a:solidFill>
                  <a:srgbClr val="F5F7FA"/>
                </a:solidFill>
              </a:defRPr>
            </a:pPr>
            <a:r>
              <a:t>This is not a simple inventory manager. The core intelligence lies in mathematical graph traversal, ML risk inference, and lateral path computation.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448056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20040" rIns="274320" rtlCol="0" anchor="ctr"/>
          <a:lstStyle/>
          <a:p>
            <a:pPr algn="ctr">
              <a:defRPr sz="1500" b="1">
                <a:solidFill>
                  <a:srgbClr val="2ED573"/>
                </a:solidFill>
              </a:defRPr>
            </a:pPr>
            <a:r>
              <a:t>Explainable AI (XAI)</a:t>
            </a:r>
          </a:p>
          <a:p>
            <a:pPr>
              <a:spcBef>
                <a:spcPts val="1200"/>
              </a:spcBef>
              <a:defRPr sz="1100">
                <a:solidFill>
                  <a:srgbClr val="F5F7FA"/>
                </a:solidFill>
              </a:defRPr>
            </a:pPr>
            <a:r>
              <a:t>Instead of outputting an unhelpful black-box number, the system tells the analyst exactly which factors drove the score (e.g. +32% Peak CVSS, +24% Direct Ingress).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448056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20040" rIns="274320" rtlCol="0" anchor="ctr"/>
          <a:lstStyle/>
          <a:p>
            <a:pPr algn="ctr">
              <a:defRPr sz="1500" b="1">
                <a:solidFill>
                  <a:srgbClr val="F5F7FA"/>
                </a:solidFill>
              </a:defRPr>
            </a:pPr>
            <a:r>
              <a:t>Interactive 'What-If' Sandbox</a:t>
            </a:r>
          </a:p>
          <a:p>
            <a:pPr>
              <a:spcBef>
                <a:spcPts val="1200"/>
              </a:spcBef>
              <a:defRPr sz="1100">
                <a:solidFill>
                  <a:srgbClr val="F5F7FA"/>
                </a:solidFill>
              </a:defRPr>
            </a:pPr>
            <a:r>
              <a:t>Allows defenders to pre-validate security mitigations: 'If we patch Log4j and enforce MFA on the DB, our high-risk paths drop from 8 to 2 and posture jumps by +40 points.'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 panose="020B0604020202020204"/>
              </a:defRPr>
            </a:pPr>
            <a:r>
              <a:t>PROJECT PROPOSAL &amp; IDEA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  <a:latin typeface="Arial" panose="020B0604020202020204"/>
              </a:defRPr>
            </a:pPr>
            <a:r>
              <a:t>6. Future Development Roadmap &amp; Research Potential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77724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rIns="274320" rtlCol="0" anchor="ctr"/>
          <a:lstStyle/>
          <a:p>
            <a:pPr algn="ctr">
              <a:defRPr sz="1300" b="1">
                <a:solidFill>
                  <a:srgbClr val="00E5FF"/>
                </a:solidFill>
              </a:defRPr>
            </a:pPr>
            <a:r>
              <a:t>1. Autonomous Defense via Reinforcement Learning</a:t>
            </a:r>
          </a:p>
          <a:p>
            <a:pPr>
              <a:defRPr sz="1100">
                <a:solidFill>
                  <a:srgbClr val="F5F7FA"/>
                </a:solidFill>
              </a:defRPr>
            </a:pPr>
            <a:r>
              <a:t>Train a Reinforcement Learning agent (DQN/PPO) that automatically discovers optimal defensive control placements with minimal cost.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698480" cy="77724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rIns="274320" rtlCol="0" anchor="ctr"/>
          <a:lstStyle/>
          <a:p>
            <a:pPr algn="ctr">
              <a:defRPr sz="1300" b="1">
                <a:solidFill>
                  <a:srgbClr val="2ED573"/>
                </a:solidFill>
              </a:defRPr>
            </a:pPr>
            <a:r>
              <a:t>2. Live Threat Intelligence Integration (STIX/TAXII)</a:t>
            </a:r>
          </a:p>
          <a:p>
            <a:pPr>
              <a:defRPr sz="1100">
                <a:solidFill>
                  <a:srgbClr val="F5F7FA"/>
                </a:solidFill>
              </a:defRPr>
            </a:pPr>
            <a:r>
              <a:t>Ingest real-world threat feeds (CISA Known Exploited Vulnerabilities - KEV) to dynamically update CVE weights based on active exploits in the wild.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98480" cy="77724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rIns="274320" rtlCol="0" anchor="ctr"/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3. Cloud &amp; Kubernetes Infrastructure Ingestion</a:t>
            </a:r>
          </a:p>
          <a:p>
            <a:pPr>
              <a:defRPr sz="1100">
                <a:solidFill>
                  <a:srgbClr val="F5F7FA"/>
                </a:solidFill>
              </a:defRPr>
            </a:pPr>
            <a:r>
              <a:t>Build automated topology connectors that parse AWS VPCs, Azure ARM, and Kubernetes cluster manifests directly into attack graphs.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10698480" cy="77724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rIns="274320" rtlCol="0" anchor="ctr"/>
          <a:lstStyle/>
          <a:p>
            <a:pPr algn="ctr">
              <a:defRPr sz="1300" b="1">
                <a:solidFill>
                  <a:srgbClr val="00E5FF"/>
                </a:solidFill>
              </a:defRPr>
            </a:pPr>
            <a:r>
              <a:t>4. Zero-Trust Identity &amp; Access Verification</a:t>
            </a:r>
          </a:p>
          <a:p>
            <a:pPr>
              <a:defRPr sz="1100">
                <a:solidFill>
                  <a:srgbClr val="F5F7FA"/>
                </a:solidFill>
              </a:defRPr>
            </a:pPr>
            <a:r>
              <a:t>Incorporate identity trust scores (conditional access, MFA token lifecycles) directly into graph traversal edge constraints.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10698480" cy="77724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rIns="274320" rtlCol="0" anchor="ctr"/>
          <a:lstStyle/>
          <a:p>
            <a:pPr algn="ctr">
              <a:defRPr sz="1300" b="1">
                <a:solidFill>
                  <a:srgbClr val="2ED573"/>
                </a:solidFill>
              </a:defRPr>
            </a:pPr>
            <a:r>
              <a:t>5. Multi-Agent Red Team vs. Blue Team War Gaming</a:t>
            </a:r>
          </a:p>
          <a:p>
            <a:pPr>
              <a:defRPr sz="1100">
                <a:solidFill>
                  <a:srgbClr val="F5F7FA"/>
                </a:solidFill>
              </a:defRPr>
            </a:pPr>
            <a:r>
              <a:t>Simulate competitive game-theoretic battles where automated red agents attempt data exfiltration while blue agents dynamically deploy honeypots.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 panose="020B0604020202020204"/>
              </a:defRPr>
            </a:pPr>
            <a:r>
              <a:t>PROJECT PROPOSAL &amp; IDEA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F7FA"/>
                </a:solidFill>
                <a:latin typeface="Arial" panose="020B0604020202020204"/>
              </a:defRPr>
            </a:pPr>
            <a:r>
              <a:t>7. Feasibility &amp; Expected Project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Fully Functional Web App</a:t>
            </a:r>
          </a:p>
          <a:p>
            <a:pPr>
              <a:spcBef>
                <a:spcPts val="1200"/>
              </a:spcBef>
              <a:defRPr sz="1100">
                <a:solidFill>
                  <a:srgbClr val="F5F7FA"/>
                </a:solidFill>
              </a:defRPr>
            </a:pPr>
            <a:r>
              <a:t>Complete working SOC dashboard, interactive attack graph canvas, and dynamic simulation player.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14600" cy="438912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defRPr sz="1400" b="1">
                <a:solidFill>
                  <a:srgbClr val="2ED573"/>
                </a:solidFill>
              </a:defRPr>
            </a:pPr>
            <a:r>
              <a:t>Trained ML Risk Pipeline</a:t>
            </a:r>
          </a:p>
          <a:p>
            <a:pPr>
              <a:spcBef>
                <a:spcPts val="1200"/>
              </a:spcBef>
              <a:defRPr sz="1100">
                <a:solidFill>
                  <a:srgbClr val="F5F7FA"/>
                </a:solidFill>
              </a:defRPr>
            </a:pPr>
            <a:r>
              <a:t>Reproducible dataset generator and trained Random Forest models evaluating multi-hop risk accurately.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14600" cy="438912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Defensive Pre-Validation</a:t>
            </a:r>
          </a:p>
          <a:p>
            <a:pPr>
              <a:spcBef>
                <a:spcPts val="1200"/>
              </a:spcBef>
              <a:defRPr sz="1100">
                <a:solidFill>
                  <a:srgbClr val="F5F7FA"/>
                </a:solidFill>
              </a:defRPr>
            </a:pPr>
            <a:r>
              <a:t>Working What-If simulator showing mathematical before/after posture improvements and blocked paths.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14600" cy="4389120"/>
          </a:xfrm>
          <a:prstGeom prst="roundRect">
            <a:avLst/>
          </a:prstGeom>
          <a:solidFill>
            <a:srgbClr val="10182D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Ethical &amp; Self-Contained</a:t>
            </a:r>
          </a:p>
          <a:p>
            <a:pPr>
              <a:spcBef>
                <a:spcPts val="1200"/>
              </a:spcBef>
              <a:defRPr sz="1100">
                <a:solidFill>
                  <a:srgbClr val="F5F7FA"/>
                </a:solidFill>
              </a:defRPr>
            </a:pPr>
            <a:r>
              <a:t>100% simulated defensive research. Runs smoothly locally with zero risk of real-world exploitation.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6396</Words>
  <Application>WPS Presentation</Application>
  <PresentationFormat>On-screen Show (4:3)</PresentationFormat>
  <Paragraphs>130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2</cp:revision>
  <dcterms:created xsi:type="dcterms:W3CDTF">2013-01-27T09:14:00Z</dcterms:created>
  <dcterms:modified xsi:type="dcterms:W3CDTF">2026-09-30T06:54:32Z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01A3AA5A39A741D499F258BFFD060E80_12</vt:lpwstr>
  </property>
</Properties>
</file>